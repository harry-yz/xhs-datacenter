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82296"/>
            <a:ext cx="2834640" cy="25603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Liter"/>
              </a:defRPr>
            </a:pPr>
            <a:r>
              <a:t>ORAN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0544" y="91440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Liter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101498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iSans"/>
              </a:defRPr>
            </a:pPr>
            <a:r>
              <a:t>Oran 数据中台阶段汇报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596896"/>
            <a:ext cx="96926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1D1D1"/>
                </a:solidFill>
                <a:latin typeface="Noto Sans SC"/>
              </a:defRPr>
            </a:pPr>
            <a:r>
              <a:t>已跑通最小闭环，进入稳定迭代阶段（XHS主线 + TikTok并行）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419856"/>
            <a:ext cx="7452360" cy="8229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3822191"/>
            <a:ext cx="2011680" cy="402336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Noto Sans SC"/>
              </a:defRPr>
            </a:pPr>
            <a:r>
              <a:t>已跑通最小闭环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3822191"/>
            <a:ext cx="1737360" cy="402336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Noto Sans SC"/>
              </a:defRPr>
            </a:pPr>
            <a:r>
              <a:t>XHS 主线可用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36592" y="3822191"/>
            <a:ext cx="1920240" cy="402336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Noto Sans SC"/>
              </a:defRPr>
            </a:pPr>
            <a:r>
              <a:t>TikTok 并行接入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39712" y="3822191"/>
            <a:ext cx="2331720" cy="402336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999999"/>
                </a:solidFill>
                <a:latin typeface="Noto Sans SC"/>
              </a:defRPr>
            </a:pPr>
            <a:r>
              <a:t>阶段同步版 · 2026-04-01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08975" y="2139696"/>
            <a:ext cx="3822191" cy="3337560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7" y="2621036"/>
            <a:ext cx="3310127" cy="2203338"/>
          </a:xfrm>
          <a:prstGeom prst="roundRect">
            <a:avLst/>
          </a:prstGeom>
          <a:solidFill>
            <a:srgbClr val="1A1A1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7888" y="2690530"/>
            <a:ext cx="2944368" cy="2078979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30767" y="2760024"/>
            <a:ext cx="2578607" cy="1954621"/>
          </a:xfrm>
          <a:prstGeom prst="roundRect">
            <a:avLst/>
          </a:prstGeom>
          <a:solidFill>
            <a:srgbClr val="1A1A1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13648" y="2829519"/>
            <a:ext cx="2212847" cy="1830263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4855464"/>
            <a:ext cx="3127248" cy="274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8467344" y="3008376"/>
            <a:ext cx="2505455" cy="1554480"/>
          </a:xfrm>
          <a:prstGeom prst="line">
            <a:avLst/>
          </a:prstGeom>
          <a:ln w="15240">
            <a:solidFill>
              <a:srgbClr val="FF8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906255" y="3346704"/>
            <a:ext cx="1673352" cy="1078992"/>
          </a:xfrm>
          <a:prstGeom prst="line">
            <a:avLst/>
          </a:prstGeom>
          <a:ln w="1016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19871" y="2322576"/>
            <a:ext cx="320039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8C42"/>
                </a:solidFill>
                <a:latin typeface="Liter"/>
              </a:defRPr>
            </a:pPr>
            <a:r>
              <a:t>CLOSED 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1" y="5001768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STRUCTURED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18903" y="5001768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PRECISE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26495" y="5001768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FORWARD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Noto Sans SC"/>
              </a:defRPr>
            </a:pPr>
            <a:r>
              <a:t>阶段同步口径：当前以线上可见能力和链路稳定性为主，量化KPI待测试体系完善后补充。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82296"/>
            <a:ext cx="2834640" cy="25603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Liter"/>
              </a:defRPr>
            </a:pPr>
            <a:r>
              <a:t>ORAN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0544" y="91440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Liter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680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MiSans"/>
              </a:defRPr>
            </a:pPr>
            <a:r>
              <a:t>执行摘要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8686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1D1"/>
                </a:solidFill>
                <a:latin typeface="Noto Sans SC"/>
              </a:defRPr>
            </a:pPr>
            <a:r>
              <a:t>这阶段核心不是做大而是做通：从概念验证进入可用阶段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56231"/>
            <a:ext cx="242316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066543"/>
            <a:ext cx="6419088" cy="418795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267712"/>
            <a:ext cx="1572768" cy="25603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8C42"/>
                </a:solidFill>
                <a:latin typeface="Noto Sans SC"/>
              </a:defRPr>
            </a:pPr>
            <a:r>
              <a:t>本阶段结论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58521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D1D1D1"/>
                </a:solidFill>
                <a:latin typeface="Noto Sans SC"/>
              </a:defRPr>
            </a:pPr>
            <a:r>
              <a:t>• 结论：项目已从“能演示”进入“可使用”，最小闭环具备持续迭代基础。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完成项：入口-二级页-搜索页链路已打通，核心交互和登录拦截稳定。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成熟度：当前处于V1可用阶段，优先做稳命中、补采和解释能力。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本次目标：阶段同步，不做超前承诺，明确下一阶段边界与节奏。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7456" y="2066543"/>
            <a:ext cx="4553712" cy="418795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2249424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42"/>
                </a:solidFill>
                <a:latin typeface="MiSans"/>
              </a:defRPr>
            </a:pPr>
            <a:r>
              <a:t>阶段价值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2578608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业务侧可直接演示完整路径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044952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产品侧具备可迭代骨架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3511296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技术侧明确优化主线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3977639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跨平台扩展具备同构基础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4517136"/>
            <a:ext cx="4114800" cy="1554480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52944" y="4998476"/>
            <a:ext cx="3602736" cy="420258"/>
          </a:xfrm>
          <a:prstGeom prst="roundRect">
            <a:avLst/>
          </a:prstGeom>
          <a:solidFill>
            <a:srgbClr val="1A1A1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35824" y="5067970"/>
            <a:ext cx="3236976" cy="295899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18704" y="5137464"/>
            <a:ext cx="2871215" cy="171541"/>
          </a:xfrm>
          <a:prstGeom prst="roundRect">
            <a:avLst/>
          </a:prstGeom>
          <a:solidFill>
            <a:srgbClr val="1A1A1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01584" y="5206959"/>
            <a:ext cx="2505456" cy="47183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4384" y="5449824"/>
            <a:ext cx="3419856" cy="274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955280" y="5157216"/>
            <a:ext cx="2798064" cy="228600"/>
          </a:xfrm>
          <a:prstGeom prst="line">
            <a:avLst/>
          </a:prstGeom>
          <a:ln w="15240">
            <a:solidFill>
              <a:srgbClr val="FF8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94192" y="5020056"/>
            <a:ext cx="1965960" cy="704088"/>
          </a:xfrm>
          <a:prstGeom prst="line">
            <a:avLst/>
          </a:prstGeom>
          <a:ln w="1016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07808" y="4700016"/>
            <a:ext cx="34930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8C42"/>
                </a:solidFill>
                <a:latin typeface="Liter"/>
              </a:defRPr>
            </a:pPr>
            <a:r>
              <a:t>EXEC SUMMARY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5596127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STRUCTURED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5596127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PRECISE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14432" y="5596127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FORWARD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Noto Sans SC"/>
              </a:defRPr>
            </a:pPr>
            <a:r>
              <a:t>阶段同步口径：当前以线上可见能力和链路稳定性为主，量化KPI待测试体系完善后补充。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82296"/>
            <a:ext cx="2834640" cy="25603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Liter"/>
              </a:defRPr>
            </a:pPr>
            <a:r>
              <a:t>ORAN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0544" y="91440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Liter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680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MiSans"/>
              </a:defRPr>
            </a:pPr>
            <a:r>
              <a:t>已上线能力全景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8686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1D1"/>
                </a:solidFill>
                <a:latin typeface="Noto Sans SC"/>
              </a:defRPr>
            </a:pPr>
            <a:r>
              <a:t>从入口到洞察，核心链路已连续可用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56231"/>
            <a:ext cx="242316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066543"/>
            <a:ext cx="6419088" cy="418795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267712"/>
            <a:ext cx="1572768" cy="25603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8C42"/>
                </a:solidFill>
                <a:latin typeface="Noto Sans SC"/>
              </a:defRPr>
            </a:pPr>
            <a:r>
              <a:t>闭环能力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58521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D1D1D1"/>
                </a:solidFill>
                <a:latin typeface="Noto Sans SC"/>
              </a:defRPr>
            </a:pPr>
            <a:r>
              <a:t>• 首页：六平台入口和统一视觉入口已完成，可承载平台化叙事。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XHS二级页：总量、趋势、行业入口协同，支持从看板到定位问题。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搜索三级页：品类/达人检索、排序分页、外链查看链路可跑通。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体验层：中英文、主题切换、登录拦截与会话衔接均已落位。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7456" y="2066543"/>
            <a:ext cx="4553712" cy="418795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2249424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42"/>
                </a:solidFill>
                <a:latin typeface="MiSans"/>
              </a:defRPr>
            </a:pPr>
            <a:r>
              <a:t>链路视图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2578608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入口层：平台分发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044952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分析层：概览与趋势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3511296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检索层：结果与筛选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3977639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动作层：详情外链与回看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4517136"/>
            <a:ext cx="4114800" cy="1554480"/>
          </a:xfrm>
          <a:prstGeom prst="roundRect">
            <a:avLst/>
          </a:prstGeom>
          <a:solidFill>
            <a:srgbClr val="242424"/>
          </a:solidFill>
          <a:ln>
            <a:solidFill>
              <a:srgbClr val="F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61504" y="4681727"/>
            <a:ext cx="3785615" cy="1225296"/>
          </a:xfrm>
          <a:prstGeom prst="roundRect">
            <a:avLst/>
          </a:prstGeom>
          <a:solidFill>
            <a:srgbClr val="121212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61504" y="4681727"/>
            <a:ext cx="3785615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1504" y="4718303"/>
            <a:ext cx="378561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61504" y="5413248"/>
            <a:ext cx="3785615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4974336"/>
            <a:ext cx="34564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1D1D1"/>
                </a:solidFill>
                <a:latin typeface="Noto Sans SC"/>
              </a:defRPr>
            </a:pPr>
            <a:r>
              <a:t>【请替换：首页 + 二级页 + 三级页拼图】</a:t>
            </a:r>
          </a:p>
          <a:p>
            <a:pPr algn="ctr">
              <a:defRPr sz="1000">
                <a:solidFill>
                  <a:srgbClr val="999999"/>
                </a:solidFill>
                <a:latin typeface="Noto Sans SC"/>
              </a:defRPr>
            </a:pPr>
            <a:r>
              <a:t>建议直接放白底产品截图，容器已做融合处理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Noto Sans SC"/>
              </a:defRPr>
            </a:pPr>
            <a:r>
              <a:t>阶段同步口径：当前以线上可见能力和链路稳定性为主，量化KPI待测试体系完善后补充。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82296"/>
            <a:ext cx="2834640" cy="25603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Liter"/>
              </a:defRPr>
            </a:pPr>
            <a:r>
              <a:t>ORAN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0544" y="91440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Liter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680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MiSans"/>
              </a:defRPr>
            </a:pPr>
            <a:r>
              <a:t>可演示能力（能看 / 能搜 / 能定位）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8686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1D1"/>
                </a:solidFill>
                <a:latin typeface="Noto Sans SC"/>
              </a:defRPr>
            </a:pPr>
            <a:r>
              <a:t>围绕真实使用动作组织能力，而非功能堆砌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56231"/>
            <a:ext cx="242316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066543"/>
            <a:ext cx="6419088" cy="418795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267712"/>
            <a:ext cx="1572768" cy="25603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8C42"/>
                </a:solidFill>
                <a:latin typeface="Noto Sans SC"/>
              </a:defRPr>
            </a:pPr>
            <a:r>
              <a:t>演示要点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58521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D1D1D1"/>
                </a:solidFill>
                <a:latin typeface="Noto Sans SC"/>
              </a:defRPr>
            </a:pPr>
            <a:r>
              <a:t>• 能看：二级页提供总量和趋势窗口，可快速建立盘面认知。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能搜：三级页支持关键词与达人双入口，排序与分页流程顺畅。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能定位：行业入口可直达目标搜索，减少反复跳转成本。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能回链：结果支持外链原文，便于业务和运营做二次判断。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7456" y="2066543"/>
            <a:ext cx="4553712" cy="418795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2249424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42"/>
                </a:solidFill>
                <a:latin typeface="MiSans"/>
              </a:defRPr>
            </a:pPr>
            <a:r>
              <a:t>讲解提示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2578608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先演示二级页总览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044952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再演示搜索筛选过程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3511296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最后展示结果与外链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3977639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建议控制在45秒内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4517136"/>
            <a:ext cx="4114800" cy="1554480"/>
          </a:xfrm>
          <a:prstGeom prst="roundRect">
            <a:avLst/>
          </a:prstGeom>
          <a:solidFill>
            <a:srgbClr val="242424"/>
          </a:solidFill>
          <a:ln>
            <a:solidFill>
              <a:srgbClr val="F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61504" y="4681727"/>
            <a:ext cx="3785615" cy="1225296"/>
          </a:xfrm>
          <a:prstGeom prst="roundRect">
            <a:avLst/>
          </a:prstGeom>
          <a:solidFill>
            <a:srgbClr val="121212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61504" y="4681727"/>
            <a:ext cx="3785615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1504" y="4718303"/>
            <a:ext cx="378561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61504" y="5413248"/>
            <a:ext cx="3785615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4974336"/>
            <a:ext cx="34564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1D1D1"/>
                </a:solidFill>
                <a:latin typeface="Noto Sans SC"/>
              </a:defRPr>
            </a:pPr>
            <a:r>
              <a:t>【请替换：二级页 + 搜索页关键画面】</a:t>
            </a:r>
          </a:p>
          <a:p>
            <a:pPr algn="ctr">
              <a:defRPr sz="1000">
                <a:solidFill>
                  <a:srgbClr val="999999"/>
                </a:solidFill>
                <a:latin typeface="Noto Sans SC"/>
              </a:defRPr>
            </a:pPr>
            <a:r>
              <a:t>建议直接放白底产品截图，容器已做融合处理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Noto Sans SC"/>
              </a:defRPr>
            </a:pPr>
            <a:r>
              <a:t>阶段同步口径：当前以线上可见能力和链路稳定性为主，量化KPI待测试体系完善后补充。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82296"/>
            <a:ext cx="2834640" cy="25603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Liter"/>
              </a:defRPr>
            </a:pPr>
            <a:r>
              <a:t>ORAN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0544" y="91440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Liter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680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MiSans"/>
              </a:defRPr>
            </a:pPr>
            <a:r>
              <a:t>当前不足与根因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8686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1D1"/>
                </a:solidFill>
                <a:latin typeface="Noto Sans SC"/>
              </a:defRPr>
            </a:pPr>
            <a:r>
              <a:t>问题已识别且可拆解，下一步按优先级逐项收敛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56231"/>
            <a:ext cx="242316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066543"/>
            <a:ext cx="6419088" cy="418795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267712"/>
            <a:ext cx="1572768" cy="25603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8C42"/>
                </a:solidFill>
                <a:latin typeface="Noto Sans SC"/>
              </a:defRPr>
            </a:pPr>
            <a:r>
              <a:t>主要问题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58521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D1D1D1"/>
                </a:solidFill>
                <a:latin typeface="Noto Sans SC"/>
              </a:defRPr>
            </a:pPr>
            <a:r>
              <a:t>• 命中稳定性不足：大词、长尾词在不同时间窗口表现波动。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字段完整性不均：互动和达人相关字段存在批次差异。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性能体验波动：冷启动与重查询场景下等待时间偏长。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解释能力薄弱：结果为什么出现、数据新鲜度展示不够直观。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7456" y="2066543"/>
            <a:ext cx="4553712" cy="418795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2249424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42"/>
                </a:solidFill>
                <a:latin typeface="MiSans"/>
              </a:defRPr>
            </a:pPr>
            <a:r>
              <a:t>根因拆解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2578608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召回策略覆盖不足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044952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补采队列受限额影响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3511296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字段来源链路不均衡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3977639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缓存与SQL策略待优化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4517136"/>
            <a:ext cx="4114800" cy="1554480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52944" y="4998476"/>
            <a:ext cx="3602736" cy="420258"/>
          </a:xfrm>
          <a:prstGeom prst="roundRect">
            <a:avLst/>
          </a:prstGeom>
          <a:solidFill>
            <a:srgbClr val="1A1A1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35824" y="5067970"/>
            <a:ext cx="3236976" cy="295899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18704" y="5137464"/>
            <a:ext cx="2871215" cy="171541"/>
          </a:xfrm>
          <a:prstGeom prst="roundRect">
            <a:avLst/>
          </a:prstGeom>
          <a:solidFill>
            <a:srgbClr val="1A1A1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01584" y="5206959"/>
            <a:ext cx="2505456" cy="47183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4384" y="5449824"/>
            <a:ext cx="3419856" cy="274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955280" y="5157216"/>
            <a:ext cx="2798064" cy="228600"/>
          </a:xfrm>
          <a:prstGeom prst="line">
            <a:avLst/>
          </a:prstGeom>
          <a:ln w="15240">
            <a:solidFill>
              <a:srgbClr val="FF8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94192" y="5020056"/>
            <a:ext cx="1965960" cy="704088"/>
          </a:xfrm>
          <a:prstGeom prst="line">
            <a:avLst/>
          </a:prstGeom>
          <a:ln w="1016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07808" y="4700016"/>
            <a:ext cx="34930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8C42"/>
                </a:solidFill>
                <a:latin typeface="Liter"/>
              </a:defRPr>
            </a:pPr>
            <a:r>
              <a:t>ROOT CAUSE 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5596127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STRUCTURED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5596127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PRECISE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14432" y="5596127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FORWARD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Noto Sans SC"/>
              </a:defRPr>
            </a:pPr>
            <a:r>
              <a:t>阶段同步口径：当前以线上可见能力和链路稳定性为主，量化KPI待测试体系完善后补充。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82296"/>
            <a:ext cx="2834640" cy="25603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Liter"/>
              </a:defRPr>
            </a:pPr>
            <a:r>
              <a:t>ORAN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0544" y="91440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Liter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680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MiSans"/>
              </a:defRPr>
            </a:pPr>
            <a:r>
              <a:t>下一阶段主线A（XHS深耕）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8686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1D1"/>
                </a:solidFill>
                <a:latin typeface="Noto Sans SC"/>
              </a:defRPr>
            </a:pPr>
            <a:r>
              <a:t>先把命中和补采做稳，再补齐可解释层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56231"/>
            <a:ext cx="242316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066543"/>
            <a:ext cx="6419088" cy="418795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267712"/>
            <a:ext cx="1572768" cy="25603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8C42"/>
                </a:solidFill>
                <a:latin typeface="Noto Sans SC"/>
              </a:defRPr>
            </a:pPr>
            <a:r>
              <a:t>优先动作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58521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D1D1D1"/>
                </a:solidFill>
                <a:latin typeface="Noto Sans SC"/>
              </a:defRPr>
            </a:pPr>
            <a:r>
              <a:t>• 命中增强：扩大关键词裂变与宽匹配覆盖，减少空结果场景。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补采闭环：低命中或老化触发补采，回填后再读取主结果。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并发治理：同词请求合并，避免重复调用上游接口。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解释层补齐：在结果页显示命中说明与数据新鲜度提示。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7456" y="2066543"/>
            <a:ext cx="4553712" cy="418795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2249424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42"/>
                </a:solidFill>
                <a:latin typeface="MiSans"/>
              </a:defRPr>
            </a:pPr>
            <a:r>
              <a:t>阶段产出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2578608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空结果比例可见下降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044952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字段缺失率逐步收敛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3511296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解释信息可被业务读懂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3977639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接口成本可持续控制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4517136"/>
            <a:ext cx="4114800" cy="1554480"/>
          </a:xfrm>
          <a:prstGeom prst="roundRect">
            <a:avLst/>
          </a:prstGeom>
          <a:solidFill>
            <a:srgbClr val="242424"/>
          </a:solidFill>
          <a:ln>
            <a:solidFill>
              <a:srgbClr val="F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61504" y="4681727"/>
            <a:ext cx="3785615" cy="1225296"/>
          </a:xfrm>
          <a:prstGeom prst="roundRect">
            <a:avLst/>
          </a:prstGeom>
          <a:solidFill>
            <a:srgbClr val="121212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61504" y="4681727"/>
            <a:ext cx="3785615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1504" y="4718303"/>
            <a:ext cx="378561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61504" y="5413248"/>
            <a:ext cx="3785615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4974336"/>
            <a:ext cx="34564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1D1D1"/>
                </a:solidFill>
                <a:latin typeface="Noto Sans SC"/>
              </a:defRPr>
            </a:pPr>
            <a:r>
              <a:t>【请替换：搜索结果页命中与解释层截图】</a:t>
            </a:r>
          </a:p>
          <a:p>
            <a:pPr algn="ctr">
              <a:defRPr sz="1000">
                <a:solidFill>
                  <a:srgbClr val="999999"/>
                </a:solidFill>
                <a:latin typeface="Noto Sans SC"/>
              </a:defRPr>
            </a:pPr>
            <a:r>
              <a:t>建议直接放白底产品截图，容器已做融合处理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Noto Sans SC"/>
              </a:defRPr>
            </a:pPr>
            <a:r>
              <a:t>阶段同步口径：当前以线上可见能力和链路稳定性为主，量化KPI待测试体系完善后补充。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82296"/>
            <a:ext cx="2834640" cy="25603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Liter"/>
              </a:defRPr>
            </a:pPr>
            <a:r>
              <a:t>ORAN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0544" y="91440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Liter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680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MiSans"/>
              </a:defRPr>
            </a:pPr>
            <a:r>
              <a:t>TikTok并行策略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8686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1D1"/>
                </a:solidFill>
                <a:latin typeface="Noto Sans SC"/>
              </a:defRPr>
            </a:pPr>
            <a:r>
              <a:t>按同构原则并行接入，不拖慢XHS主线节奏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56231"/>
            <a:ext cx="242316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066543"/>
            <a:ext cx="6419088" cy="418795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267712"/>
            <a:ext cx="1572768" cy="25603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8C42"/>
                </a:solidFill>
                <a:latin typeface="Noto Sans SC"/>
              </a:defRPr>
            </a:pPr>
            <a:r>
              <a:t>并行原则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58521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D1D1D1"/>
                </a:solidFill>
                <a:latin typeface="Noto Sans SC"/>
              </a:defRPr>
            </a:pPr>
            <a:r>
              <a:t>• 字段同构优先：内容、达人、互动、发布时间等先对齐核心字段。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页面最小闭环：先提供可进入的轻量总览与基础搜索能力。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交互模型复用：尽量沿用XHS交互，降低学习和维护成本。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迭代策略：先可用再做深，不一次性扩张全部分析模块。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7456" y="2066543"/>
            <a:ext cx="4553712" cy="418795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2249424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42"/>
                </a:solidFill>
                <a:latin typeface="MiSans"/>
              </a:defRPr>
            </a:pPr>
            <a:r>
              <a:t>分阶段推进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2578608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Phase 1：接入与映射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044952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Phase 2：总览与检索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3511296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Phase 3：品牌达人深化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3977639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Phase 4：与XHS统一运营视角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4517136"/>
            <a:ext cx="4114800" cy="1554480"/>
          </a:xfrm>
          <a:prstGeom prst="roundRect">
            <a:avLst/>
          </a:prstGeom>
          <a:solidFill>
            <a:srgbClr val="242424"/>
          </a:solidFill>
          <a:ln>
            <a:solidFill>
              <a:srgbClr val="F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61504" y="4681727"/>
            <a:ext cx="3785615" cy="1225296"/>
          </a:xfrm>
          <a:prstGeom prst="roundRect">
            <a:avLst/>
          </a:prstGeom>
          <a:solidFill>
            <a:srgbClr val="121212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61504" y="4681727"/>
            <a:ext cx="3785615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1504" y="4718303"/>
            <a:ext cx="378561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61504" y="5413248"/>
            <a:ext cx="3785615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4974336"/>
            <a:ext cx="34564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1D1D1"/>
                </a:solidFill>
                <a:latin typeface="Noto Sans SC"/>
              </a:defRPr>
            </a:pPr>
            <a:r>
              <a:t>【请替换：TikTok轻量总览与搜索页截图】</a:t>
            </a:r>
          </a:p>
          <a:p>
            <a:pPr algn="ctr">
              <a:defRPr sz="1000">
                <a:solidFill>
                  <a:srgbClr val="999999"/>
                </a:solidFill>
                <a:latin typeface="Noto Sans SC"/>
              </a:defRPr>
            </a:pPr>
            <a:r>
              <a:t>建议直接放白底产品截图，容器已做融合处理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Noto Sans SC"/>
              </a:defRPr>
            </a:pPr>
            <a:r>
              <a:t>阶段同步口径：当前以线上可见能力和链路稳定性为主，量化KPI待测试体系完善后补充。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82296"/>
            <a:ext cx="2834640" cy="25603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Liter"/>
              </a:defRPr>
            </a:pPr>
            <a:r>
              <a:t>ORAN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0544" y="91440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Liter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680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MiSans"/>
              </a:defRPr>
            </a:pPr>
            <a:r>
              <a:t>里程碑与协同需求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8686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1D1"/>
                </a:solidFill>
                <a:latin typeface="Noto Sans SC"/>
              </a:defRPr>
            </a:pPr>
            <a:r>
              <a:t>按M1/M2/M3推进，阶段目标可检视、可复盘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56231"/>
            <a:ext cx="242316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066543"/>
            <a:ext cx="6419088" cy="418795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267712"/>
            <a:ext cx="1572768" cy="25603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8C42"/>
                </a:solidFill>
                <a:latin typeface="Noto Sans SC"/>
              </a:defRPr>
            </a:pPr>
            <a:r>
              <a:t>阶段节奏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58521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D1D1D1"/>
                </a:solidFill>
                <a:latin typeface="Noto Sans SC"/>
              </a:defRPr>
            </a:pPr>
            <a:r>
              <a:t>• M1：命中优化与数据质量面板上线，先确保基础稳定可解释。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M2：品牌/达人分析增强上线，提升业务侧分析效率。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M3：TikTok轻量能力上线，形成跨平台并行能力雏形。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协同点：接口配额、字段口径、联调窗口要提前锁定。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7456" y="2066543"/>
            <a:ext cx="4553712" cy="418795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2249424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42"/>
                </a:solidFill>
                <a:latin typeface="MiSans"/>
              </a:defRPr>
            </a:pPr>
            <a:r>
              <a:t>协同关注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2578608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接口配额与上游节奏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044952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字段映射与口径一致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3511296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联调窗口与责任人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3977639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版本验收与回归机制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4517136"/>
            <a:ext cx="4114800" cy="1554480"/>
          </a:xfrm>
          <a:prstGeom prst="roundRect">
            <a:avLst/>
          </a:prstGeom>
          <a:solidFill>
            <a:srgbClr val="242424"/>
          </a:solidFill>
          <a:ln>
            <a:solidFill>
              <a:srgbClr val="F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61504" y="4681727"/>
            <a:ext cx="3785615" cy="1225296"/>
          </a:xfrm>
          <a:prstGeom prst="roundRect">
            <a:avLst/>
          </a:prstGeom>
          <a:solidFill>
            <a:srgbClr val="121212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61504" y="4681727"/>
            <a:ext cx="3785615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1504" y="4718303"/>
            <a:ext cx="378561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61504" y="5413248"/>
            <a:ext cx="3785615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4974336"/>
            <a:ext cx="34564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1D1D1"/>
                </a:solidFill>
                <a:latin typeface="Noto Sans SC"/>
              </a:defRPr>
            </a:pPr>
            <a:r>
              <a:t>【请替换：里程碑看板或联调排期截图】</a:t>
            </a:r>
          </a:p>
          <a:p>
            <a:pPr algn="ctr">
              <a:defRPr sz="1000">
                <a:solidFill>
                  <a:srgbClr val="999999"/>
                </a:solidFill>
                <a:latin typeface="Noto Sans SC"/>
              </a:defRPr>
            </a:pPr>
            <a:r>
              <a:t>建议直接放白底产品截图，容器已做融合处理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Noto Sans SC"/>
              </a:defRPr>
            </a:pPr>
            <a:r>
              <a:t>阶段同步口径：当前以线上可见能力和链路稳定性为主，量化KPI待测试体系完善后补充。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82296"/>
            <a:ext cx="2834640" cy="25603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8C42"/>
                </a:solidFill>
                <a:latin typeface="Liter"/>
              </a:defRPr>
            </a:pPr>
            <a:r>
              <a:t>ORAN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10544" y="91440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Liter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680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MiSans"/>
              </a:defRPr>
            </a:pPr>
            <a:r>
              <a:t>收尾结论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8686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1D1"/>
                </a:solidFill>
                <a:latin typeface="Noto Sans SC"/>
              </a:defRPr>
            </a:pPr>
            <a:r>
              <a:t>本阶段先证明“做得通”，下一阶段聚焦“做得稳、做得深”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56231"/>
            <a:ext cx="242316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066543"/>
            <a:ext cx="6419088" cy="418795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2267712"/>
            <a:ext cx="1572768" cy="25603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8C42"/>
                </a:solidFill>
                <a:latin typeface="Noto Sans SC"/>
              </a:defRPr>
            </a:pPr>
            <a:r>
              <a:t>一句话总结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651760"/>
            <a:ext cx="58521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D1D1D1"/>
                </a:solidFill>
                <a:latin typeface="Noto Sans SC"/>
              </a:defRPr>
            </a:pPr>
            <a:r>
              <a:t>• 我们已经完成最小闭环验证：链路可演示、能力可复用、方向可持续。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下一阶段坚持聚焦：XHS主线做深，TikTok并行做轻，不盲目扩张。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节奏原则不变：先稳定再增强，先可解释再规模化。</a:t>
            </a:r>
          </a:p>
          <a:p>
            <a:pPr>
              <a:spcAft>
                <a:spcPts val="900"/>
              </a:spcAft>
              <a:defRPr sz="1500">
                <a:solidFill>
                  <a:srgbClr val="D1D1D1"/>
                </a:solidFill>
                <a:latin typeface="Noto Sans SC"/>
              </a:defRPr>
            </a:pPr>
            <a:r>
              <a:t>• 本次同步的价值是统一认知和节奏，为后续协同减少偏差。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7456" y="2066543"/>
            <a:ext cx="4553712" cy="4187952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2249424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42"/>
                </a:solidFill>
                <a:latin typeface="MiSans"/>
              </a:defRPr>
            </a:pPr>
            <a:r>
              <a:t>下阶段协同节奏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2578608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每周同步：问题与进展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044952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双周复盘：阶段目标达成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3511296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关键变更：先对齐再执行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3977639"/>
            <a:ext cx="4114800" cy="39319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1D1D1"/>
                </a:solidFill>
                <a:latin typeface="Noto Sans SC"/>
              </a:defRPr>
            </a:pPr>
            <a:r>
              <a:t>对外口径：以已上线能力为准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4517136"/>
            <a:ext cx="4114800" cy="1554480"/>
          </a:xfrm>
          <a:prstGeom prst="roundRect">
            <a:avLst/>
          </a:prstGeom>
          <a:solidFill>
            <a:srgbClr val="242424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52944" y="4998476"/>
            <a:ext cx="3602736" cy="420258"/>
          </a:xfrm>
          <a:prstGeom prst="roundRect">
            <a:avLst/>
          </a:prstGeom>
          <a:solidFill>
            <a:srgbClr val="1A1A1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35824" y="5067970"/>
            <a:ext cx="3236976" cy="295899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18704" y="5137464"/>
            <a:ext cx="2871215" cy="171541"/>
          </a:xfrm>
          <a:prstGeom prst="roundRect">
            <a:avLst/>
          </a:prstGeom>
          <a:solidFill>
            <a:srgbClr val="1A1A1A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01584" y="5206959"/>
            <a:ext cx="2505456" cy="47183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4384" y="5449824"/>
            <a:ext cx="3419856" cy="274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955280" y="5157216"/>
            <a:ext cx="2798064" cy="228600"/>
          </a:xfrm>
          <a:prstGeom prst="line">
            <a:avLst/>
          </a:prstGeom>
          <a:ln w="15240">
            <a:solidFill>
              <a:srgbClr val="FF8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94192" y="5020056"/>
            <a:ext cx="1965960" cy="704088"/>
          </a:xfrm>
          <a:prstGeom prst="line">
            <a:avLst/>
          </a:prstGeom>
          <a:ln w="1016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07808" y="4700016"/>
            <a:ext cx="34930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8C42"/>
                </a:solidFill>
                <a:latin typeface="Liter"/>
              </a:defRPr>
            </a:pPr>
            <a:r>
              <a:t>NEXT STEP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5596127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STRUCTURED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5596127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PRECISE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14432" y="5596127"/>
            <a:ext cx="1234440" cy="256032"/>
          </a:xfrm>
          <a:prstGeom prst="roundRect">
            <a:avLst/>
          </a:prstGeom>
          <a:solidFill>
            <a:srgbClr val="1A1A1A"/>
          </a:solidFill>
          <a:ln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99999"/>
                </a:solidFill>
                <a:latin typeface="Liter"/>
              </a:defRPr>
            </a:pPr>
            <a:r>
              <a:t>FORWARD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Noto Sans SC"/>
              </a:defRPr>
            </a:pPr>
            <a:r>
              <a:t>阶段同步口径：当前以线上可见能力和链路稳定性为主，量化KPI待测试体系完善后补充。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